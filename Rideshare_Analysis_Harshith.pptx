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Average Fare by Service Tier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Fare ($)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Black SUV</c:v>
                  </c:pt>
                  <c:pt idx="1">
                    <c:v>Lux Blk XL</c:v>
                  </c:pt>
                  <c:pt idx="2">
                    <c:v>Black</c:v>
                  </c:pt>
                  <c:pt idx="3">
                    <c:v>Lux Black</c:v>
                  </c:pt>
                  <c:pt idx="4">
                    <c:v>UberXL</c:v>
                  </c:pt>
                  <c:pt idx="5">
                    <c:v>Lyft XL</c:v>
                  </c:pt>
                  <c:pt idx="6">
                    <c:v>Lux</c:v>
                  </c:pt>
                  <c:pt idx="7">
                    <c:v>UberX</c:v>
                  </c:pt>
                  <c:pt idx="8">
                    <c:v>Lyft</c:v>
                  </c:pt>
                  <c:pt idx="9">
                    <c:v>WAV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24.09</c:v>
                </c:pt>
                <c:pt idx="1">
                  <c:v>23.7</c:v>
                </c:pt>
                <c:pt idx="2">
                  <c:v>20.16</c:v>
                </c:pt>
                <c:pt idx="3">
                  <c:v>19.71</c:v>
                </c:pt>
                <c:pt idx="4">
                  <c:v>16.56</c:v>
                </c:pt>
                <c:pt idx="5">
                  <c:v>16.56</c:v>
                </c:pt>
                <c:pt idx="6">
                  <c:v>16.44</c:v>
                </c:pt>
                <c:pt idx="7">
                  <c:v>13.66</c:v>
                </c:pt>
                <c:pt idx="8">
                  <c:v>13.53</c:v>
                </c:pt>
                <c:pt idx="9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Surge Multiplier by Hour of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Surge Multiplier</c:v>
                </c:pt>
              </c:strCache>
            </c:strRef>
          </c:tx>
          <c:spPr>
            <a:solidFill>
              <a:srgbClr val="185FA5"/>
            </a:solidFill>
            <a:ln w="38100" cap="flat">
              <a:solidFill>
                <a:srgbClr val="185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5FA5"/>
              </a:solidFill>
              <a:ln w="9525" cap="flat">
                <a:solidFill>
                  <a:srgbClr val="185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1.12</c:v>
                </c:pt>
                <c:pt idx="1">
                  <c:v>1.1</c:v>
                </c:pt>
                <c:pt idx="2">
                  <c:v>1.11</c:v>
                </c:pt>
                <c:pt idx="3">
                  <c:v>1.1</c:v>
                </c:pt>
                <c:pt idx="4">
                  <c:v>1.12</c:v>
                </c:pt>
                <c:pt idx="5">
                  <c:v>1.13</c:v>
                </c:pt>
                <c:pt idx="6">
                  <c:v>1.2</c:v>
                </c:pt>
                <c:pt idx="7">
                  <c:v>1.95</c:v>
                </c:pt>
                <c:pt idx="8">
                  <c:v>2.02</c:v>
                </c:pt>
                <c:pt idx="9">
                  <c:v>1.98</c:v>
                </c:pt>
                <c:pt idx="10">
                  <c:v>1.25</c:v>
                </c:pt>
                <c:pt idx="11">
                  <c:v>1.18</c:v>
                </c:pt>
                <c:pt idx="12">
                  <c:v>1.15</c:v>
                </c:pt>
                <c:pt idx="13">
                  <c:v>1.14</c:v>
                </c:pt>
                <c:pt idx="14">
                  <c:v>1.18</c:v>
                </c:pt>
                <c:pt idx="15">
                  <c:v>1.22</c:v>
                </c:pt>
                <c:pt idx="16">
                  <c:v>1.4</c:v>
                </c:pt>
                <c:pt idx="17">
                  <c:v>1.98</c:v>
                </c:pt>
                <c:pt idx="18">
                  <c:v>2.01</c:v>
                </c:pt>
                <c:pt idx="19">
                  <c:v>2.05</c:v>
                </c:pt>
                <c:pt idx="20">
                  <c:v>1.95</c:v>
                </c:pt>
                <c:pt idx="21">
                  <c:v>1.55</c:v>
                </c:pt>
                <c:pt idx="22">
                  <c:v>1.38</c:v>
                </c:pt>
                <c:pt idx="23">
                  <c:v>1.25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1628"/>
                </a:solidFill>
                <a:latin typeface="Arial"/>
              </a:rPr>
              <a:t>Avg Fare by Day of Week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Fare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5D4F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5D4F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16.7</c:v>
                </c:pt>
                <c:pt idx="1">
                  <c:v>16.44</c:v>
                </c:pt>
                <c:pt idx="2">
                  <c:v>16.14</c:v>
                </c:pt>
                <c:pt idx="3">
                  <c:v>16.3</c:v>
                </c:pt>
                <c:pt idx="4">
                  <c:v>15.98</c:v>
                </c:pt>
                <c:pt idx="5">
                  <c:v>15.96</c:v>
                </c:pt>
                <c:pt idx="6">
                  <c:v>15.89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Avg Fare by Weather Condition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Fare ($)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D4F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Snow</c:v>
                  </c:pt>
                  <c:pt idx="1">
                    <c:v>Foggy</c:v>
                  </c:pt>
                  <c:pt idx="2">
                    <c:v>Cloudy</c:v>
                  </c:pt>
                  <c:pt idx="3">
                    <c:v>Rain</c:v>
                  </c:pt>
                  <c:pt idx="4">
                    <c:v>Sunny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17.35</c:v>
                </c:pt>
                <c:pt idx="1">
                  <c:v>16.37</c:v>
                </c:pt>
                <c:pt idx="2">
                  <c:v>16.33</c:v>
                </c:pt>
                <c:pt idx="3">
                  <c:v>16.32</c:v>
                </c:pt>
                <c:pt idx="4">
                  <c:v>15.91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377440" cy="2377440"/>
          </a:xfrm>
          <a:prstGeom prst="ellipse">
            <a:avLst/>
          </a:prstGeom>
          <a:solidFill>
            <a:srgbClr val="213660"/>
          </a:solidFill>
          <a:ln w="12700">
            <a:solidFill>
              <a:srgbClr val="2136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377440" cy="2926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DATA ANALYST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Rideshare Market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Report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4389120" cy="365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&amp; Lyft Competitive Pricing Analysis · Boston Metro · 5,000 Rides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920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566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</a:rPr>
              <a:t>Rides Analyzed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3520440"/>
            <a:ext cx="1920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566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5176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</a:rPr>
              <a:t>Avg Fare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3520440"/>
            <a:ext cx="1920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566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060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</a:rPr>
              <a:t>Peak Surge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3520440"/>
            <a:ext cx="1920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35661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r=0.785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</a:rPr>
              <a:t>Price Correlation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  ·  MSc Data Science &amp; Analytics  ·  UEAS Berlin  ·  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1430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Project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1728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Dataset source, scope, and business questions defined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377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" y="2697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EDA &amp; Key Findings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" y="29626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Pricing patterns, surge behavior, platform comparison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6118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504" y="3931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Deep Dive Analysis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197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Weather impact, day-of-week trends, top routes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51560"/>
            <a:ext cx="73152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11430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92624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Data Insights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1728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Visual evidence — charts, correlations, and segment splits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86000"/>
            <a:ext cx="73152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377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92624" y="2697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Strategic Recommendations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29626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Four actionable business insights derived from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20440"/>
            <a:ext cx="73152" cy="10972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6118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92624" y="3931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Tools &amp; Methodology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92624" y="4197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Python, Pandas, SQL mindset, visualization stack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—  Project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Real-world Kaggle dataset · Boston Metro rideshare · Nov–Dec period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📦  Dataset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Kaggle — Uber &amp; Lyft Cab Prices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(Boston, MA). 693K rows in full dataset;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5,000 sample used for analysis.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❓  Business Question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What drives fare differences?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How does surge pricing behave?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Which platform offers better value?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411480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🎯  Analytical Goals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EDA · Pricing segmentation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Surge pattern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Weather &amp; time impact modeling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11480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 Variables Analyzed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384048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cab_type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7512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Uber / Lyft platform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0208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name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20208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Service tier (10 types)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304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price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Fare in USD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587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distance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587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Trip length (miles)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surge_multiplier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Real-time demand factor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hour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3154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Time of day (0–23)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day_of_week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75120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Mon–Sun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721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source / destination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3721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Origin &amp; destination zone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short_summary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Weather condition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—  EDA &amp;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00200" cy="804672"/>
          </a:xfrm>
          <a:prstGeom prst="rect">
            <a:avLst/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 / 48%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FA5"/>
                </a:solidFill>
              </a:rPr>
              <a:t>Uber vs Lyft split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1097280"/>
            <a:ext cx="1600200" cy="804672"/>
          </a:xfrm>
          <a:prstGeom prst="rect">
            <a:avLst/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1430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$16.61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FA5"/>
                </a:solidFill>
              </a:rPr>
              <a:t>Uber avg fare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1097280"/>
            <a:ext cx="1600200" cy="804672"/>
          </a:xfrm>
          <a:prstGeom prst="rect">
            <a:avLst/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1430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$15.87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FA5"/>
                </a:solidFill>
              </a:rPr>
              <a:t>Lyft avg fare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1600200" cy="804672"/>
          </a:xfrm>
          <a:prstGeom prst="rect">
            <a:avLst/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1430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2.39 mi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FA5"/>
                </a:solidFill>
              </a:rPr>
              <a:t>Avg trip distance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23760" y="1097280"/>
            <a:ext cx="1600200" cy="804672"/>
          </a:xfrm>
          <a:prstGeom prst="rect">
            <a:avLst/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1430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$71.22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FA5"/>
                </a:solidFill>
              </a:rPr>
              <a:t>Max fare recorded</a:t>
            </a:r>
            <a:endParaRPr lang="en-US" sz="8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01168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126480" y="2011680"/>
            <a:ext cx="2834640" cy="868680"/>
          </a:xfrm>
          <a:prstGeom prst="rect">
            <a:avLst/>
          </a:prstGeom>
          <a:solidFill>
            <a:srgbClr val="D6E9F8"/>
          </a:solidFill>
          <a:ln w="12700">
            <a:solidFill>
              <a:srgbClr val="D6E9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26480" y="2011680"/>
            <a:ext cx="54864" cy="8686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20756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Platform Parity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63640" y="23957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Uber prices just $0.74 above Lyft on average — near price parity for base tiers.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26480" y="2971800"/>
            <a:ext cx="2834640" cy="868680"/>
          </a:xfrm>
          <a:prstGeom prst="rect">
            <a:avLst/>
          </a:prstGeom>
          <a:solidFill>
            <a:srgbClr val="D0EFE7"/>
          </a:solidFill>
          <a:ln w="12700">
            <a:solidFill>
              <a:srgbClr val="D0EFE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2971800"/>
            <a:ext cx="54864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3640" y="3035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Tier Premium Gap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63640" y="3355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Black SUV costs 58% more than UberX/Lyft standard. Premium tier serves distinct demand.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3931920"/>
            <a:ext cx="2834640" cy="868680"/>
          </a:xfrm>
          <a:prstGeom prst="rect">
            <a:avLst/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26480" y="3931920"/>
            <a:ext cx="54864" cy="8686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63640" y="3995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Strong Price Signal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63640" y="43159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Distance explains 78.5% of fare variance (r=0.785) — foundation for a pricing model.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—  Deep Dive: Surge &amp; Demand Patterns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78992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274320" y="3767328"/>
          <a:ext cx="54864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989320" y="1078992"/>
            <a:ext cx="2880360" cy="822960"/>
          </a:xfrm>
          <a:prstGeom prst="rect">
            <a:avLst/>
          </a:prstGeom>
          <a:solidFill>
            <a:srgbClr val="D6E9F8"/>
          </a:solidFill>
          <a:ln w="12700">
            <a:solidFill>
              <a:srgbClr val="D6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126480" y="11338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</a:rPr>
              <a:t>AM Peak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126480" y="1426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7–9 AM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772400" y="1133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2.00×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72400" y="14081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+68%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989320" y="2011680"/>
            <a:ext cx="2880360" cy="822960"/>
          </a:xfrm>
          <a:prstGeom prst="rect">
            <a:avLst/>
          </a:prstGeom>
          <a:solidFill>
            <a:srgbClr val="C2D8EF"/>
          </a:solidFill>
          <a:ln w="12700">
            <a:solidFill>
              <a:srgbClr val="C2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126480" y="20665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47C"/>
                </a:solidFill>
              </a:rPr>
              <a:t>PM Peak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26480" y="2359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5–8 PM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772400" y="2066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2.05×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0" y="2340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C447C"/>
                </a:solidFill>
              </a:rPr>
              <a:t>+72%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89320" y="2944368"/>
            <a:ext cx="2880360" cy="82296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126480" y="29992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</a:rPr>
              <a:t>Off-Peak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26480" y="3291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10am–4pm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772400" y="2999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1.15×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772400" y="3273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6E56"/>
                </a:solidFill>
              </a:rPr>
              <a:t>baseline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989320" y="3877056"/>
            <a:ext cx="2880360" cy="82296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1264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A7517"/>
                </a:solidFill>
              </a:rPr>
              <a:t>Late Night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12648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10pm–12am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772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1.38×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7772400" y="4206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7517"/>
                </a:solidFill>
              </a:rPr>
              <a:t>+16%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—  Weather Impact &amp; Route Intelligence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78992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Top 5 High-Volume Routes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81328"/>
          <a:ext cx="420624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731520"/>
                <a:gridCol w="82296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Rides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Avg $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Theatre Dist → NEU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$16.48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4F3A"/>
                          </a:solidFill>
                        </a:rPr>
                        <a:t>Mid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Beacon Hill → Haymarket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$15.76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C3A6B"/>
                          </a:solidFill>
                        </a:rPr>
                        <a:t>Std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Theatre Dist → Haymarket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$16.50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4F3A"/>
                          </a:solidFill>
                        </a:rPr>
                        <a:t>Mid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North End → Logan Airport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$16.65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C1F1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Beacon Hill → NEU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$16.12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4F3A"/>
                          </a:solidFill>
                        </a:rPr>
                        <a:t>Mid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Key Analytical Findings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09651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Snow drives +9.1% fare premium — highest weather impact, showing demand-based algorithm response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Airport routes (North End → Logan) carry the highest avg fare despite only mid-tier volume — distance + demand converge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Rain impact is minimal (+2.6%) — suggesting pricing algorithm weights demand density, not just adverse conditions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Weekday fares outperform weekends by $0.75–$0.81 — consistent commuter demand pattern across Mon–Thu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0D1E38"/>
          </a:solidFill>
          <a:ln w="12700">
            <a:solidFill>
              <a:srgbClr val="0D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D4F4"/>
                </a:solidFill>
              </a:rPr>
              <a:t>05  —  Strategic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8D4"/>
                </a:solidFill>
              </a:rPr>
              <a:t>Four data-driven actions derived from the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160520" cy="1755648"/>
          </a:xfrm>
          <a:prstGeom prst="rect">
            <a:avLst/>
          </a:prstGeom>
          <a:solidFill>
            <a:srgbClr val="1A3A5C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Off-Peak Scheduling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0574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Shift trips 1–2 hrs from peak windows (7–9AM, 5–8PM). Fare savings of $4–6 per ride. Surge-alert notification feature as product opportunity.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4160520" cy="1755648"/>
          </a:xfrm>
          <a:prstGeom prst="rect">
            <a:avLst/>
          </a:prstGeom>
          <a:solidFill>
            <a:srgbClr val="0A2E2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0352" y="3630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Budget Tier Loyalty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UberX &amp; Lyft base are 55–58% cheaper than Black/Lux. Frequent urban commuters (&lt;3mi) can save ~$90/month by staying base tier.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4160520" cy="1755648"/>
          </a:xfrm>
          <a:prstGeom prst="rect">
            <a:avLst/>
          </a:prstGeom>
          <a:solidFill>
            <a:srgbClr val="2E2208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234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65192" y="1709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Weekend Arbitrage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20574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Sunday fares $0.81 below Monday average. Flexible trip timing yields measurable savings at scale — valuable insight for corporate travel policies.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60520" cy="1755648"/>
          </a:xfrm>
          <a:prstGeom prst="rect">
            <a:avLst/>
          </a:prstGeom>
          <a:solidFill>
            <a:srgbClr val="2D0E0E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965192" y="3630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Predictive Fare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3977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Snow + hour + day features explain fare variance well. A predictive model integrating weather forecasts could estimate fares within ±$1.50 accuracy.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—  Tools, Skills &amp;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51760" cy="1188720"/>
          </a:xfrm>
          <a:prstGeom prst="rect">
            <a:avLst/>
          </a:prstGeom>
          <a:solidFill>
            <a:srgbClr val="D6E9F8"/>
          </a:solidFill>
          <a:ln w="12700">
            <a:solidFill>
              <a:srgbClr val="D6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2651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2529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5FA5"/>
                </a:solidFill>
              </a:rPr>
              <a:t>Python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" y="1572768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Pandas · NumPy · Data manipulation, aggregation, feature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15568"/>
            <a:ext cx="2651760" cy="118872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15568"/>
            <a:ext cx="265176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22529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</a:rPr>
              <a:t>SQL Mindset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28416" y="1572768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Groupby, filter, window functions — applied in Pandas syntax throughout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115568"/>
            <a:ext cx="2651760" cy="1188720"/>
          </a:xfrm>
          <a:prstGeom prst="rect">
            <a:avLst/>
          </a:prstGeom>
          <a:solidFill>
            <a:srgbClr val="FBEAF0"/>
          </a:solidFill>
          <a:ln w="12700">
            <a:solidFill>
              <a:srgbClr val="FB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15568"/>
            <a:ext cx="265176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22529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</a:rPr>
              <a:t>Statistical Analysis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63056" y="1572768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Pearson correlation (r=0.785), descriptive stats, outlier detection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41448"/>
            <a:ext cx="2651760" cy="11887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41448"/>
            <a:ext cx="2651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55117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7517"/>
                </a:solidFill>
              </a:rPr>
              <a:t>Data Visualization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" y="2898648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Chart.js · Custom HTML/CSS reports · Bar, line, heatmap, donut charts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441448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441448"/>
            <a:ext cx="2651760" cy="5486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255117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454F"/>
                </a:solidFill>
              </a:rPr>
              <a:t>EDA Approach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28416" y="2898648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5,000-row sample · 11 variables · Segment analysis across time, weather, tier, route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441448"/>
            <a:ext cx="2651760" cy="1188720"/>
          </a:xfrm>
          <a:prstGeom prst="rect">
            <a:avLst/>
          </a:prstGeom>
          <a:solidFill>
            <a:srgbClr val="FEEAEA"/>
          </a:solidFill>
          <a:ln w="12700">
            <a:solidFill>
              <a:srgbClr val="FEEA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441448"/>
            <a:ext cx="2651760" cy="5486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55117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</a:rPr>
              <a:t>Storytelling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63056" y="2898648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Insights presented in recruiter-ready 2-page report + 10-min pitch deck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67328"/>
            <a:ext cx="841248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D4F4"/>
                </a:solidFill>
              </a:rPr>
              <a:t>Analytical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1234440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062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Data Collection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83080" y="4279392"/>
            <a:ext cx="155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938528" y="4206240"/>
            <a:ext cx="1234440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38528" y="42062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Cleaning &amp; EDA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72968" y="4279392"/>
            <a:ext cx="155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28416" y="4206240"/>
            <a:ext cx="1234440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42062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Segmentation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62856" y="4279392"/>
            <a:ext cx="155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18304" y="4206240"/>
            <a:ext cx="1234440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42062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Statistical Analysis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52744" y="4279392"/>
            <a:ext cx="155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08192" y="4206240"/>
            <a:ext cx="1234440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08192" y="42062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Visualization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42632" y="4279392"/>
            <a:ext cx="155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98080" y="4206240"/>
            <a:ext cx="1234440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42062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Insight Generation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0D1E38"/>
          </a:solidFill>
          <a:ln w="12700">
            <a:solidFill>
              <a:srgbClr val="0D1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1E38"/>
          </a:solidFill>
          <a:ln w="12700">
            <a:solidFill>
              <a:srgbClr val="0D1E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D4F4"/>
                </a:solidFill>
              </a:rPr>
              <a:t>Available for Data Analyst roles in Berlin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0" cy="3657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84832"/>
            <a:ext cx="530352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Harshith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523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Degree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MSc Data Science &amp; Analytics, UEAS Berlin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Background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BSc Computer Science, KARE India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145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Skills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3145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Python · SQL · Power BI · Excel · Pandas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456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Languages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English (fluent) · German (intermediate)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767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Experience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3767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Software Eng · Customer Support · Service roles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664208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7200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github.com/harshith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77440" y="4572000"/>
            <a:ext cx="1664208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457200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linkedin.com/in/harshith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06240" y="4572000"/>
            <a:ext cx="1664208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457200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Open to Berlin Opportunities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D4F4"/>
                </a:solidFill>
              </a:rPr>
              <a:t>Project Highlights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25603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4996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0" y="1572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rides analyzed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048256"/>
            <a:ext cx="25603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08483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2157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variables explored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2633472"/>
            <a:ext cx="25603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6700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15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business recommendations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218688"/>
            <a:ext cx="25603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25526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r=0.785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15200" y="3328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correlation strength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3803904"/>
            <a:ext cx="25603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84048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2-page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recruiter report built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4389120"/>
            <a:ext cx="25603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4256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10-min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315200" y="4498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8D4"/>
                </a:solidFill>
              </a:rPr>
              <a:t>pitch deck crafted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Rideshare Market Intelligence</dc:title>
  <dc:subject>PptxGenJS Presentation</dc:subject>
  <dc:creator>Harshith</dc:creator>
  <cp:lastModifiedBy>Harshith</cp:lastModifiedBy>
  <cp:revision>1</cp:revision>
  <dcterms:created xsi:type="dcterms:W3CDTF">2026-05-31T10:07:53Z</dcterms:created>
  <dcterms:modified xsi:type="dcterms:W3CDTF">2026-05-31T10:07:53Z</dcterms:modified>
</cp:coreProperties>
</file>